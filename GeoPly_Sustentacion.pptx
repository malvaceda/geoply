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480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4475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8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00205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5669280" cy="5669280"/>
          </a:xfrm>
          <a:prstGeom prst="ellipse">
            <a:avLst/>
          </a:prstGeom>
          <a:solidFill>
            <a:srgbClr val="00205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2514600" cy="384048"/>
          </a:xfrm>
          <a:prstGeom prst="rect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 DATOS AL ECOSISTEMA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Colombia · Reto Economía y Empleo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868680" cy="868680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0" descr="/home/claude/geoply_pptx/icons/ma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2" y="1795882"/>
            <a:ext cx="660197" cy="6601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260604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GeoPly</a:t>
            </a:r>
            <a:endParaRPr lang="en-US" sz="6600" dirty="0"/>
          </a:p>
        </p:txBody>
      </p:sp>
      <p:sp>
        <p:nvSpPr>
          <p:cNvPr id="10" name="Text 7"/>
          <p:cNvSpPr/>
          <p:nvPr/>
        </p:nvSpPr>
        <p:spPr>
          <a:xfrm>
            <a:off x="640080" y="361188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territorial para el mercado laboral de Colombia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40080" y="443484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00205B"/>
          </a:solidFill>
          <a:ln w="12700">
            <a:solidFill>
              <a:srgbClr val="2F4E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804672" y="4526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04672" y="47823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#225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606040" y="443484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00205B"/>
          </a:solidFill>
          <a:ln w="12700">
            <a:solidFill>
              <a:srgbClr val="2F4E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2770632" y="4526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770632" y="47823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572000" y="4434840"/>
            <a:ext cx="2651760" cy="777240"/>
          </a:xfrm>
          <a:prstGeom prst="roundRect">
            <a:avLst>
              <a:gd name="adj" fmla="val 10588"/>
            </a:avLst>
          </a:prstGeom>
          <a:solidFill>
            <a:srgbClr val="00205B"/>
          </a:solidFill>
          <a:ln w="12700">
            <a:solidFill>
              <a:srgbClr val="2F4E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4736592" y="4526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36592" y="4782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y Empleo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0080" y="5486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0080" y="57790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Sarita Posada Medina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337560" y="57790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Andrés Malvaceda Sáenz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035040" y="57790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 Flórez Gómez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732520" y="57790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Tomás Tabares Montoya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github.com/malvaceda/GEOPLY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abiertos del mercado laboral: disponibles, pero inaccesibles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13232" y="1728216"/>
            <a:ext cx="731520" cy="731520"/>
          </a:xfrm>
          <a:prstGeom prst="ellipse">
            <a:avLst/>
          </a:prstGeom>
          <a:solidFill>
            <a:srgbClr val="0038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geoply_pptx/icons/databas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" y="1815998"/>
            <a:ext cx="555955" cy="555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00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E1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00200" y="21305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oficiales dispersas, sin capa de integración territorial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43784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713232" y="3063240"/>
            <a:ext cx="731520" cy="731520"/>
          </a:xfrm>
          <a:prstGeom prst="ellipse">
            <a:avLst/>
          </a:prstGeom>
          <a:solidFill>
            <a:srgbClr val="0038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home/claude/geoply_pptx/icons/balanc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" y="3151022"/>
            <a:ext cx="555955" cy="5559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93522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E1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54.2%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1600200" y="34655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informalidad laboral nacional, sin desagregación por departamento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178808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713232" y="4398264"/>
            <a:ext cx="731520" cy="731520"/>
          </a:xfrm>
          <a:prstGeom prst="ellipse">
            <a:avLst/>
          </a:prstGeom>
          <a:solidFill>
            <a:srgbClr val="0038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/home/claude/geoply_pptx/icons/map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" y="4486046"/>
            <a:ext cx="555955" cy="5559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702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E1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1600200" y="4800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públicas para comparar oportunidades entre territorios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89320" y="1508760"/>
            <a:ext cx="5669280" cy="4709160"/>
          </a:xfrm>
          <a:prstGeom prst="roundRect">
            <a:avLst>
              <a:gd name="adj" fmla="val 1942"/>
            </a:avLst>
          </a:prstGeom>
          <a:solidFill>
            <a:srgbClr val="0038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6309360" y="1828800"/>
            <a:ext cx="731520" cy="731520"/>
          </a:xfrm>
          <a:prstGeom prst="ellipse">
            <a:avLst/>
          </a:prstGeom>
          <a:solidFill>
            <a:srgbClr val="00205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/home/claude/geoply_pptx/icons/targ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142" y="1916582"/>
            <a:ext cx="555955" cy="5559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19385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309360" y="25146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Integrar datos abiertos del mercado laboral colombiano en una plataforma geoespacial que traduzca 18 fuentes oficiales en indicadores territoriales comparables y comprensibles.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6309360" y="4069080"/>
            <a:ext cx="5029200" cy="0"/>
          </a:xfrm>
          <a:prstGeom prst="line">
            <a:avLst/>
          </a:prstGeom>
          <a:noFill/>
          <a:ln w="12700">
            <a:solidFill>
              <a:srgbClr val="335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6309360" y="4325112"/>
            <a:ext cx="109728" cy="109728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0"/>
          <p:cNvSpPr/>
          <p:nvPr/>
        </p:nvSpPr>
        <p:spPr>
          <a:xfrm>
            <a:off x="6537960" y="42245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predicciones ni modelos de ML: solo datos oficiales verificables.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309360" y="4946904"/>
            <a:ext cx="109728" cy="109728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2"/>
          <p:cNvSpPr/>
          <p:nvPr/>
        </p:nvSpPr>
        <p:spPr>
          <a:xfrm>
            <a:off x="6537960" y="4846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ciudadanos, emprendedores, investigadores y entidades públicas.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6309360" y="5568696"/>
            <a:ext cx="109728" cy="109728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4"/>
          <p:cNvSpPr/>
          <p:nvPr/>
        </p:nvSpPr>
        <p:spPr>
          <a:xfrm>
            <a:off x="6537960" y="5468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los 33 departamentos de Colombia.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objetivo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9174175" y="65471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225 · GeoPly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597335" y="654710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abiertos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fuentes oficiales integradas sin autenticación ni descarga manual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geoply_pptx/icons/exchang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" y="1823679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190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8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vía SODA API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datos.gov.co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06240" y="15544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4434840" y="1755648"/>
            <a:ext cx="566928" cy="566928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home/claude/geoply_pptx/icons/ba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871" y="1823679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7190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8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4434840" y="2423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DANE/GEIH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procesados como JSON propio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863840" y="1554480"/>
            <a:ext cx="3794760" cy="1783080"/>
          </a:xfrm>
          <a:prstGeom prst="roundRect">
            <a:avLst>
              <a:gd name="adj" fmla="val 4103"/>
            </a:avLst>
          </a:prstGeom>
          <a:solidFill>
            <a:srgbClr val="0038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8092440" y="1755648"/>
            <a:ext cx="566928" cy="566928"/>
          </a:xfrm>
          <a:prstGeom prst="ellipse">
            <a:avLst/>
          </a:prstGeom>
          <a:solidFill>
            <a:srgbClr val="00205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/home/claude/geoply_pptx/icons/p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0471" y="1823679"/>
            <a:ext cx="430865" cy="4308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0" y="17190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CD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8092440" y="2423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 con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calculados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Y NORMALIZACIÓN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087368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5875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6"/>
          <p:cNvSpPr/>
          <p:nvPr/>
        </p:nvSpPr>
        <p:spPr>
          <a:xfrm>
            <a:off x="713232" y="4251960"/>
            <a:ext cx="384048" cy="384048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17"/>
          <p:cNvSpPr/>
          <p:nvPr/>
        </p:nvSpPr>
        <p:spPr>
          <a:xfrm>
            <a:off x="713232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8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13232" y="4690872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Esquemas heterogéneos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713232" y="5020056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de columna distintos entre fuentes (municipio, mpio, nom_mpio)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178808" y="4572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4480560" y="4087368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5875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2"/>
          <p:cNvSpPr/>
          <p:nvPr/>
        </p:nvSpPr>
        <p:spPr>
          <a:xfrm>
            <a:off x="4645152" y="4251960"/>
            <a:ext cx="384048" cy="384048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3"/>
          <p:cNvSpPr/>
          <p:nvPr/>
        </p:nvSpPr>
        <p:spPr>
          <a:xfrm>
            <a:off x="4645152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8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4645152" y="4690872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3 niveles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4645152" y="5020056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→ coordenadas explícitas → nombre de municipio/depto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8110728" y="4572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27"/>
          <p:cNvSpPr/>
          <p:nvPr/>
        </p:nvSpPr>
        <p:spPr>
          <a:xfrm>
            <a:off x="8412480" y="4087368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5875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28"/>
          <p:cNvSpPr/>
          <p:nvPr/>
        </p:nvSpPr>
        <p:spPr>
          <a:xfrm>
            <a:off x="8577072" y="4251960"/>
            <a:ext cx="384048" cy="384048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29"/>
          <p:cNvSpPr/>
          <p:nvPr/>
        </p:nvSpPr>
        <p:spPr>
          <a:xfrm>
            <a:off x="8577072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8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8577072" y="4690872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dinámica de campos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8577072" y="5020056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búsqueda para sector, sexo, edad y nivel educativo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DF3D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3"/>
          <p:cNvSpPr/>
          <p:nvPr/>
        </p:nvSpPr>
        <p:spPr>
          <a:xfrm>
            <a:off x="777240" y="5897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declarada: variables sin dato suficiente muestran "Sin suficientes registros" — nunca un valor inventado.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abiertos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9174175" y="65471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225 · GeoPly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1597335" y="654710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e 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indicadores basado en reglas — no machine learning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0038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" name="Image 0" descr="/home/claude/geoply_pptx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71" y="1576791"/>
            <a:ext cx="430865" cy="4308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47218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DANE + registros API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98448" y="17830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departamentos-data.js + EMPLEO_RECORDS geolocalizados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832104" y="2075688"/>
            <a:ext cx="0" cy="320040"/>
          </a:xfrm>
          <a:prstGeom prst="line">
            <a:avLst/>
          </a:prstGeom>
          <a:noFill/>
          <a:ln w="19050">
            <a:solidFill>
              <a:srgbClr val="C7D2EA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548640" y="2478024"/>
            <a:ext cx="566928" cy="566928"/>
          </a:xfrm>
          <a:prstGeom prst="ellipse">
            <a:avLst/>
          </a:prstGeom>
          <a:solidFill>
            <a:srgbClr val="0038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0" name="Image 1" descr="/home/claude/geoply_pptx/icon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71" y="2546055"/>
            <a:ext cx="430865" cy="4308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24414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dinámica de campos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98448" y="275234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findFieldByPattern y detectCategoricalField, sin nombres fijos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832104" y="3044952"/>
            <a:ext cx="0" cy="320040"/>
          </a:xfrm>
          <a:prstGeom prst="line">
            <a:avLst/>
          </a:prstGeom>
          <a:noFill/>
          <a:ln w="19050">
            <a:solidFill>
              <a:srgbClr val="C7D2EA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548640" y="3447288"/>
            <a:ext cx="566928" cy="566928"/>
          </a:xfrm>
          <a:prstGeom prst="ellipse">
            <a:avLst/>
          </a:prstGeom>
          <a:solidFill>
            <a:srgbClr val="0038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/home/claude/geoply_pptx/icon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671" y="3515319"/>
            <a:ext cx="430865" cy="4308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98448" y="341071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indicadores por departamento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298448" y="37216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cociente de localización, índice de oportunidad, tendencia 2018→2025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832104" y="4014216"/>
            <a:ext cx="0" cy="320040"/>
          </a:xfrm>
          <a:prstGeom prst="line">
            <a:avLst/>
          </a:prstGeom>
          <a:noFill/>
          <a:ln w="19050">
            <a:solidFill>
              <a:srgbClr val="C7D2EA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4"/>
          <p:cNvSpPr/>
          <p:nvPr/>
        </p:nvSpPr>
        <p:spPr>
          <a:xfrm>
            <a:off x="548640" y="4416552"/>
            <a:ext cx="566928" cy="566928"/>
          </a:xfrm>
          <a:prstGeom prst="ellipse">
            <a:avLst/>
          </a:prstGeom>
          <a:solidFill>
            <a:srgbClr val="0038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0" name="Image 3" descr="/home/claude/geoply_pptx/icons/b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671" y="4484583"/>
            <a:ext cx="430865" cy="4308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98448" y="437997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GeoPly Score (0–100)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298448" y="469087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compuesto de 7 dimensiones ponderadas, cacheado por depto</a:t>
            </a:r>
            <a:endParaRPr lang="en-US" sz="1080" dirty="0"/>
          </a:p>
        </p:txBody>
      </p:sp>
      <p:pic>
        <p:nvPicPr>
          <p:cNvPr id="23" name="Image 4" descr="/home/claude/geoply_pptx/shots/como_funciona.jpe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43800" y="1417320"/>
            <a:ext cx="4114800" cy="35661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43800" y="49560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[Producto real — modal explicativo de GeoPly]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7543800" y="5257800"/>
            <a:ext cx="4114800" cy="1051560"/>
          </a:xfrm>
          <a:prstGeom prst="roundRect">
            <a:avLst>
              <a:gd name="adj" fmla="val 6087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19"/>
          <p:cNvSpPr/>
          <p:nvPr/>
        </p:nvSpPr>
        <p:spPr>
          <a:xfrm>
            <a:off x="7699248" y="5330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GEOPLY SCORE — PONDERACIÓN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7699248" y="55961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25% · Crecimiento 20% · Informalidad 15%</a:t>
            </a:r>
            <a:endParaRPr lang="en-US" sz="9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Emergentes 15% · Competitividad 10% · Educativo 10% · Juvenil 5%</a:t>
            </a:r>
            <a:endParaRPr lang="en-US" sz="970" dirty="0"/>
          </a:p>
        </p:txBody>
      </p:sp>
      <p:sp>
        <p:nvSpPr>
          <p:cNvPr id="28" name="Text 21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e IA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9174175" y="65471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225 · GeoPly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597335" y="654710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y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GeoPly en funcionamiento sobre datos reales de datos.gov.co y el DANE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035040" cy="4160520"/>
          </a:xfrm>
          <a:prstGeom prst="roundRect">
            <a:avLst>
              <a:gd name="adj" fmla="val 1099"/>
            </a:avLst>
          </a:prstGeom>
          <a:solidFill>
            <a:srgbClr val="EDEFF5"/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/home/claude/geoply_pptx/shots/map_legend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1481328"/>
            <a:ext cx="5907024" cy="4032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6235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[Producto real — mapa interactivo con leyenda de oportunidad]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720840" y="1417320"/>
            <a:ext cx="4937760" cy="2011680"/>
          </a:xfrm>
          <a:prstGeom prst="roundRect">
            <a:avLst>
              <a:gd name="adj" fmla="val 2273"/>
            </a:avLst>
          </a:prstGeom>
          <a:solidFill>
            <a:srgbClr val="EDEFF5"/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1" descr="/home/claude/geoply_pptx/shots/meta_panel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84848" y="1481328"/>
            <a:ext cx="4809744" cy="18836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20840" y="344728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[Panel de detalle — Meta, GeoPly Score 69.9/100]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720840" y="3794760"/>
            <a:ext cx="4937760" cy="1783080"/>
          </a:xfrm>
          <a:prstGeom prst="roundRect">
            <a:avLst>
              <a:gd name="adj" fmla="val 2564"/>
            </a:avLst>
          </a:prstGeom>
          <a:solidFill>
            <a:srgbClr val="EDEFF5"/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1" name="Image 2" descr="/home/claude/geoply_pptx/shots/sanandres_dashboard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84848" y="3858768"/>
            <a:ext cx="4809744" cy="16550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20840" y="559612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[Dashboard de 15 indicadores por departamento]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6720840" y="594360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038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9"/>
          <p:cNvSpPr/>
          <p:nvPr/>
        </p:nvSpPr>
        <p:spPr>
          <a:xfrm>
            <a:off x="6858000" y="5943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territorial en vivo · Meta #5/33 · San Andrés y Providencia 52.8/100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demo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9174175" y="65471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225 · GeoPly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597335" y="654710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públicos, una misma capa de acceso a datos públicos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685800" cy="685800"/>
          </a:xfrm>
          <a:prstGeom prst="ellipse">
            <a:avLst/>
          </a:prstGeom>
          <a:solidFill>
            <a:srgbClr val="0038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geoply_pptx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865376"/>
            <a:ext cx="521208" cy="521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orientan su búsqueda de empleo según dinamismo territorial real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246120" y="15544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3474720" y="1783080"/>
            <a:ext cx="685800" cy="685800"/>
          </a:xfrm>
          <a:prstGeom prst="ellipse">
            <a:avLst/>
          </a:prstGeom>
          <a:solidFill>
            <a:srgbClr val="0038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home/claude/geoply_pptx/icons/handshak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865376"/>
            <a:ext cx="521208" cy="521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Emprendedores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29000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 territorios para decidir dónde invertir o abrir negocio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943600" y="15544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6172200" y="1783080"/>
            <a:ext cx="685800" cy="685800"/>
          </a:xfrm>
          <a:prstGeom prst="ellipse">
            <a:avLst/>
          </a:prstGeom>
          <a:solidFill>
            <a:srgbClr val="0038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/home/claude/geoply_pptx/icons/gra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865376"/>
            <a:ext cx="521208" cy="5212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Investigadores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26480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exploran patrones territoriales sin procesar datos crudos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8641080" y="15544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8869680" y="1783080"/>
            <a:ext cx="685800" cy="685800"/>
          </a:xfrm>
          <a:prstGeom prst="ellipse">
            <a:avLst/>
          </a:prstGeom>
          <a:solidFill>
            <a:srgbClr val="0038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/home/claude/geoply_pptx/icons/buildin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1976" y="1865376"/>
            <a:ext cx="521208" cy="5212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2396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públicas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823960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contextualizan políticas de empleo y formación regional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48640" y="4160520"/>
            <a:ext cx="11109960" cy="1874520"/>
          </a:xfrm>
          <a:prstGeom prst="roundRect">
            <a:avLst>
              <a:gd name="adj" fmla="val 4390"/>
            </a:avLst>
          </a:prstGeom>
          <a:solidFill>
            <a:srgbClr val="0038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19"/>
          <p:cNvSpPr/>
          <p:nvPr/>
        </p:nvSpPr>
        <p:spPr>
          <a:xfrm>
            <a:off x="86868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Y SOSTENIBILIDAD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868680" y="4828032"/>
            <a:ext cx="109728" cy="109728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1"/>
          <p:cNvSpPr/>
          <p:nvPr/>
        </p:nvSpPr>
        <p:spPr>
          <a:xfrm>
            <a:off x="1097280" y="47274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costo de licenciamiento: 100% sobre datos abiertos oficiales.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68680" y="5239512"/>
            <a:ext cx="109728" cy="109728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3"/>
          <p:cNvSpPr/>
          <p:nvPr/>
        </p:nvSpPr>
        <p:spPr>
          <a:xfrm>
            <a:off x="1097280" y="51389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pipeline de servidor — se actualiza cuando las fuentes se actualizan.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868680" y="5650992"/>
            <a:ext cx="109728" cy="109728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5"/>
          <p:cNvSpPr/>
          <p:nvPr/>
        </p:nvSpPr>
        <p:spPr>
          <a:xfrm>
            <a:off x="1097280" y="555040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lista para ampliar a nivel municipal y nuevas fuentes SENA/SPE.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9174175" y="65471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225 · GeoPly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597335" y="654710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y validación técnica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0038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22960" y="1536192"/>
            <a:ext cx="685800" cy="685800"/>
          </a:xfrm>
          <a:prstGeom prst="ellipse">
            <a:avLst/>
          </a:prstGeom>
          <a:solidFill>
            <a:srgbClr val="00205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" name="Image 0" descr="/home/claude/geoply_pptx/icons/githu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618488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00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github.com/malvaceda/GEOPLY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69164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público con código, README y datos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2514600"/>
            <a:ext cx="4846320" cy="0"/>
          </a:xfrm>
          <a:prstGeom prst="line">
            <a:avLst/>
          </a:prstGeom>
          <a:noFill/>
          <a:ln w="12700">
            <a:solidFill>
              <a:srgbClr val="335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822960" y="2651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README.md con arquitectura y guía de ejecución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9809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Stack: Leaflet.js + Node/Express + MySQL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128016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6492240" y="1463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TÉCNICA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92240" y="1874520"/>
            <a:ext cx="347472" cy="347472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4" name="Image 1" descr="/home/claude/geoply_pptx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937" y="1916217"/>
            <a:ext cx="264079" cy="26407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67728" y="18928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verificada en los 33 departamentos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92240" y="2496312"/>
            <a:ext cx="347472" cy="347472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2" descr="/home/claude/geoply_pptx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937" y="2538009"/>
            <a:ext cx="264079" cy="26407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67728" y="2514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datos ausentes sin errores en cascada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92240" y="3118104"/>
            <a:ext cx="347472" cy="347472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0" name="Image 3" descr="/home/claude/geoply_pptx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937" y="3159801"/>
            <a:ext cx="264079" cy="26407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67728" y="31363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rangos geográficos y coordenadas (0,0) descartadas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492240" y="3739896"/>
            <a:ext cx="347472" cy="347472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home/claude/geoply_pptx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937" y="3781593"/>
            <a:ext cx="264079" cy="26407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67728" y="37581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documentados en validacion_guide.md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492240" y="4361688"/>
            <a:ext cx="347472" cy="347472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5" descr="/home/claude/geoply_pptx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937" y="4403385"/>
            <a:ext cx="264079" cy="26407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67728" y="4379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Estimaciones marcadas explícitamente (ej. informalidad)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548640" y="36118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DEL PROYECTO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548640" y="397764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2"/>
          <p:cNvSpPr/>
          <p:nvPr/>
        </p:nvSpPr>
        <p:spPr>
          <a:xfrm>
            <a:off x="73152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architecture.md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548640" y="452628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4"/>
          <p:cNvSpPr/>
          <p:nvPr/>
        </p:nvSpPr>
        <p:spPr>
          <a:xfrm>
            <a:off x="731520" y="4526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fuentes_datos.md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548640" y="507492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26"/>
          <p:cNvSpPr/>
          <p:nvPr/>
        </p:nvSpPr>
        <p:spPr>
          <a:xfrm>
            <a:off x="731520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marco_metodologico.md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548640" y="562356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28"/>
          <p:cNvSpPr/>
          <p:nvPr/>
        </p:nvSpPr>
        <p:spPr>
          <a:xfrm>
            <a:off x="731520" y="5623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conclusiones.md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y validación técnica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9174175" y="65471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225 · GeoPly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597335" y="654710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8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389120"/>
            <a:ext cx="5486400" cy="5486400"/>
          </a:xfrm>
          <a:prstGeom prst="ellipse">
            <a:avLst/>
          </a:prstGeom>
          <a:solidFill>
            <a:srgbClr val="00205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CD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mismo punto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961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real de acceso + 18 fuentes de datos abiertos + motor de indicadores territoriales = decisiones laborales mejor informadas para 33 departamentos de Colombia.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8961120" cy="0"/>
          </a:xfrm>
          <a:prstGeom prst="line">
            <a:avLst/>
          </a:prstGeom>
          <a:noFill/>
          <a:ln w="12700">
            <a:solidFill>
              <a:srgbClr val="3355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VERIFICACIÓN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329184" cy="329184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0" descr="/home/claude/geoply_pptx/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" y="3788542"/>
            <a:ext cx="250180" cy="2501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76732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completo — 4 integrantes registrados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3749040"/>
            <a:ext cx="329184" cy="329184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home/claude/geoply_pptx/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982" y="3788542"/>
            <a:ext cx="250180" cy="250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0" y="376732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correcto — Categoría Intermedia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315968"/>
            <a:ext cx="329184" cy="329184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4" name="Image 2" descr="/home/claude/geoply_pptx/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" y="4355470"/>
            <a:ext cx="250180" cy="2501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433425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correcto — Economía y Empleo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26480" y="4315968"/>
            <a:ext cx="329184" cy="329184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3" descr="/home/claude/geoply_pptx/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982" y="4355470"/>
            <a:ext cx="250180" cy="2501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83680" y="433425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del formulario completos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" y="4882896"/>
            <a:ext cx="329184" cy="329184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0" name="Image 4" descr="/home/claude/geoply_pptx/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" y="4922398"/>
            <a:ext cx="250180" cy="2501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7280" y="490118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con README, código y datos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6126480" y="4882896"/>
            <a:ext cx="329184" cy="329184"/>
          </a:xfrm>
          <a:prstGeom prst="ellipse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5" descr="/home/claude/geoply_pptx/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982" y="4922398"/>
            <a:ext cx="250180" cy="2501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583680" y="490118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funcional verificada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225 · Geoply · github.com/malvaceda/GEOPLY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749</Words>
  <Application>Microsoft Office PowerPoint</Application>
  <PresentationFormat>Panorámica</PresentationFormat>
  <Paragraphs>139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Tomás Tabares Montoya</cp:lastModifiedBy>
  <cp:revision>1</cp:revision>
  <dcterms:created xsi:type="dcterms:W3CDTF">2026-07-13T20:51:02Z</dcterms:created>
  <dcterms:modified xsi:type="dcterms:W3CDTF">2026-07-13T20:54:30Z</dcterms:modified>
</cp:coreProperties>
</file>